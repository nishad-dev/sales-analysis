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53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uhammed%20Nishad%20PM\Downloads\n\4.xls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uhammed%20Nishad%20PM\Downloads\n\4.xls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uhammed%20Nishad%20PM\Downloads\n\4.xls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Muhammed%20Nishad%20PM\Downloads\n\4.xls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[self project.xls]pivot!PivotTable6</c:name>
    <c:fmtId val="9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pivot!$F$25:$F$26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pivot!$E$27:$E$32</c:f>
              <c:strCache>
                <c:ptCount val="5"/>
                <c:pt idx="0">
                  <c:v>Binders</c:v>
                </c:pt>
                <c:pt idx="1">
                  <c:v>Furnishings</c:v>
                </c:pt>
                <c:pt idx="2">
                  <c:v>Paper</c:v>
                </c:pt>
                <c:pt idx="3">
                  <c:v>Phones</c:v>
                </c:pt>
                <c:pt idx="4">
                  <c:v>Storage</c:v>
                </c:pt>
              </c:strCache>
            </c:strRef>
          </c:cat>
          <c:val>
            <c:numRef>
              <c:f>pivot!$F$27:$F$32</c:f>
              <c:numCache>
                <c:formatCode>General</c:formatCode>
                <c:ptCount val="5"/>
                <c:pt idx="0">
                  <c:v>1386</c:v>
                </c:pt>
                <c:pt idx="1">
                  <c:v>885</c:v>
                </c:pt>
                <c:pt idx="2">
                  <c:v>1247</c:v>
                </c:pt>
                <c:pt idx="3">
                  <c:v>812</c:v>
                </c:pt>
                <c:pt idx="4">
                  <c:v>789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4D-4EF1-91C5-53B7EC73F0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094088207"/>
        <c:axId val="1094089167"/>
        <c:axId val="0"/>
      </c:bar3DChart>
      <c:catAx>
        <c:axId val="10940882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089167"/>
        <c:crosses val="autoZero"/>
        <c:auto val="1"/>
        <c:lblAlgn val="ctr"/>
        <c:lblOffset val="100"/>
        <c:noMultiLvlLbl val="0"/>
      </c:catAx>
      <c:valAx>
        <c:axId val="10940891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0882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[self project.xls]pivot!category_wised_quantity</c:name>
    <c:fmtId val="9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pivot!$B$1:$B$2</c:f>
              <c:strCache>
                <c:ptCount val="1"/>
                <c:pt idx="0">
                  <c:v>Central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pivot!$A$3:$A$6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pivot!$B$3:$B$6</c:f>
              <c:numCache>
                <c:formatCode>General</c:formatCode>
                <c:ptCount val="3"/>
                <c:pt idx="0">
                  <c:v>1827</c:v>
                </c:pt>
                <c:pt idx="1">
                  <c:v>5409</c:v>
                </c:pt>
                <c:pt idx="2">
                  <c:v>1544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F38-4DEE-83E1-7BCA08D3414C}"/>
            </c:ext>
          </c:extLst>
        </c:ser>
        <c:ser>
          <c:idx val="1"/>
          <c:order val="1"/>
          <c:tx>
            <c:strRef>
              <c:f>pivot!$C$1:$C$2</c:f>
              <c:strCache>
                <c:ptCount val="1"/>
                <c:pt idx="0">
                  <c:v>East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pivot!$A$3:$A$6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pivot!$C$3:$C$6</c:f>
              <c:numCache>
                <c:formatCode>General</c:formatCode>
                <c:ptCount val="3"/>
                <c:pt idx="0">
                  <c:v>2214</c:v>
                </c:pt>
                <c:pt idx="1">
                  <c:v>6462</c:v>
                </c:pt>
                <c:pt idx="2">
                  <c:v>1942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F38-4DEE-83E1-7BCA08D3414C}"/>
            </c:ext>
          </c:extLst>
        </c:ser>
        <c:ser>
          <c:idx val="2"/>
          <c:order val="2"/>
          <c:tx>
            <c:strRef>
              <c:f>pivot!$D$1:$D$2</c:f>
              <c:strCache>
                <c:ptCount val="1"/>
                <c:pt idx="0">
                  <c:v>South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pivot!$A$3:$A$6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pivot!$D$3:$D$6</c:f>
              <c:numCache>
                <c:formatCode>General</c:formatCode>
                <c:ptCount val="3"/>
                <c:pt idx="0">
                  <c:v>1291</c:v>
                </c:pt>
                <c:pt idx="1">
                  <c:v>3800</c:v>
                </c:pt>
                <c:pt idx="2">
                  <c:v>1118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F38-4DEE-83E1-7BCA08D3414C}"/>
            </c:ext>
          </c:extLst>
        </c:ser>
        <c:ser>
          <c:idx val="3"/>
          <c:order val="3"/>
          <c:tx>
            <c:strRef>
              <c:f>pivot!$E$1:$E$2</c:f>
              <c:strCache>
                <c:ptCount val="1"/>
                <c:pt idx="0">
                  <c:v>West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pivot!$A$3:$A$6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pivot!$E$3:$E$6</c:f>
              <c:numCache>
                <c:formatCode>General</c:formatCode>
                <c:ptCount val="3"/>
                <c:pt idx="0">
                  <c:v>2696</c:v>
                </c:pt>
                <c:pt idx="1">
                  <c:v>7235</c:v>
                </c:pt>
                <c:pt idx="2">
                  <c:v>2335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F38-4DEE-83E1-7BCA08D341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314261039"/>
        <c:axId val="314255759"/>
      </c:barChart>
      <c:catAx>
        <c:axId val="3142610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255759"/>
        <c:crosses val="autoZero"/>
        <c:auto val="1"/>
        <c:lblAlgn val="ctr"/>
        <c:lblOffset val="100"/>
        <c:noMultiLvlLbl val="0"/>
      </c:catAx>
      <c:valAx>
        <c:axId val="3142557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142610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[self project.xls]pivot!PivotTable4</c:name>
    <c:fmtId val="14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7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8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9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1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2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3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5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  <c:pivotFmt>
        <c:idx val="16"/>
        <c:spPr>
          <a:solidFill>
            <a:schemeClr val="accent1"/>
          </a:solidFill>
          <a:ln w="25400">
            <a:solidFill>
              <a:schemeClr val="lt1"/>
            </a:solidFill>
          </a:ln>
          <a:effectLst/>
          <a:sp3d contourW="25400">
            <a:contourClr>
              <a:schemeClr val="lt1"/>
            </a:contourClr>
          </a:sp3d>
        </c:spPr>
      </c:pivotFmt>
    </c:pivotFmts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3.8078242092468365E-2"/>
          <c:y val="0.27254410906969961"/>
          <c:w val="0.62044807596939111"/>
          <c:h val="0.68578922426363376"/>
        </c:manualLayout>
      </c:layout>
      <c:pie3DChart>
        <c:varyColors val="1"/>
        <c:ser>
          <c:idx val="0"/>
          <c:order val="0"/>
          <c:tx>
            <c:strRef>
              <c:f>pivot!$J$12:$J$13</c:f>
              <c:strCache>
                <c:ptCount val="1"/>
                <c:pt idx="0">
                  <c:v>Total</c:v>
                </c:pt>
              </c:strCache>
            </c:strRef>
          </c:tx>
          <c:explosion val="3"/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7E17-48DB-A28F-5ABDE316261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7E17-48DB-A28F-5ABDE316261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7E17-48DB-A28F-5ABDE316261E}"/>
              </c:ext>
            </c:extLst>
          </c:dPt>
          <c:cat>
            <c:strRef>
              <c:f>pivot!$I$14:$I$17</c:f>
              <c:strCache>
                <c:ptCount val="3"/>
                <c:pt idx="0">
                  <c:v>Furniture</c:v>
                </c:pt>
                <c:pt idx="1">
                  <c:v>Office Supplies</c:v>
                </c:pt>
                <c:pt idx="2">
                  <c:v>Technology</c:v>
                </c:pt>
              </c:strCache>
            </c:strRef>
          </c:cat>
          <c:val>
            <c:numRef>
              <c:f>pivot!$J$14:$J$17</c:f>
              <c:numCache>
                <c:formatCode>General</c:formatCode>
                <c:ptCount val="3"/>
                <c:pt idx="0">
                  <c:v>8028</c:v>
                </c:pt>
                <c:pt idx="1">
                  <c:v>22906</c:v>
                </c:pt>
                <c:pt idx="2">
                  <c:v>6939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E17-48DB-A28F-5ABDE31626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[self project.xls]pivot!sum_of_sales</c:name>
    <c:fmtId val="11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  <a:sp3d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0.12951680009394717"/>
          <c:y val="0.21672954614787554"/>
          <c:w val="0.69446073369896255"/>
          <c:h val="0.71952174817278058"/>
        </c:manualLayout>
      </c:layout>
      <c:bar3DChart>
        <c:barDir val="bar"/>
        <c:grouping val="clustered"/>
        <c:varyColors val="0"/>
        <c:ser>
          <c:idx val="0"/>
          <c:order val="0"/>
          <c:tx>
            <c:strRef>
              <c:f>pivot!$B$10:$B$11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pivot!$A$12:$A$16</c:f>
              <c:strCache>
                <c:ptCount val="4"/>
                <c:pt idx="0">
                  <c:v>Central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pivot!$B$12:$B$16</c:f>
              <c:numCache>
                <c:formatCode>General</c:formatCode>
                <c:ptCount val="4"/>
                <c:pt idx="0">
                  <c:v>501239.89080000052</c:v>
                </c:pt>
                <c:pt idx="1">
                  <c:v>678781.2399999979</c:v>
                </c:pt>
                <c:pt idx="2">
                  <c:v>391721.90500000032</c:v>
                </c:pt>
                <c:pt idx="3">
                  <c:v>725457.82450000057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B7C-4B2C-B4BC-13E9440A3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442661807"/>
        <c:axId val="1010063679"/>
        <c:axId val="0"/>
      </c:bar3DChart>
      <c:catAx>
        <c:axId val="44266180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10063679"/>
        <c:crosses val="autoZero"/>
        <c:auto val="1"/>
        <c:lblAlgn val="ctr"/>
        <c:lblOffset val="100"/>
        <c:noMultiLvlLbl val="0"/>
      </c:catAx>
      <c:valAx>
        <c:axId val="1010063679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266180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7709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545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78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545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917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250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70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1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1427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583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81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8797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76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4142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69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841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6570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1247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8292" y="1352550"/>
            <a:ext cx="6620968" cy="1977032"/>
          </a:xfrm>
        </p:spPr>
        <p:txBody>
          <a:bodyPr/>
          <a:lstStyle/>
          <a:p>
            <a:r>
              <a:rPr sz="4800" dirty="0"/>
              <a:t>Sales &amp; Operations Analysis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4492" y="3329582"/>
            <a:ext cx="6620968" cy="861420"/>
          </a:xfrm>
        </p:spPr>
        <p:txBody>
          <a:bodyPr/>
          <a:lstStyle/>
          <a:p>
            <a:r>
              <a:rPr dirty="0"/>
              <a:t>Pivot Table &amp; Pivot Chart Based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Returns Analysis by Sub-Category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155934E-E9B4-44D6-80F4-88CD636F4A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5562337"/>
              </p:ext>
            </p:extLst>
          </p:nvPr>
        </p:nvGraphicFramePr>
        <p:xfrm>
          <a:off x="1047135" y="1663264"/>
          <a:ext cx="6459794" cy="47522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Quantity by Category and Region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FEFA71-8385-4FC4-B655-13306BA85B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29913097"/>
              </p:ext>
            </p:extLst>
          </p:nvPr>
        </p:nvGraphicFramePr>
        <p:xfrm>
          <a:off x="1676401" y="1640586"/>
          <a:ext cx="5154194" cy="35768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Quantity Share by Category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7B6DC58-007E-4669-88C7-535068507A3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7046644"/>
              </p:ext>
            </p:extLst>
          </p:nvPr>
        </p:nvGraphicFramePr>
        <p:xfrm>
          <a:off x="1370732" y="2186997"/>
          <a:ext cx="4908393" cy="37327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Sales Performance by Region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7985DCA-57BE-43A6-822F-332B5B32E94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49523332"/>
              </p:ext>
            </p:extLst>
          </p:nvPr>
        </p:nvGraphicFramePr>
        <p:xfrm>
          <a:off x="127986" y="1400967"/>
          <a:ext cx="7768828" cy="345678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/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Office Supplies dominate overall quantity</a:t>
            </a:r>
          </a:p>
          <a:p>
            <a:r>
              <a:t>• West region leads in total sales</a:t>
            </a:r>
          </a:p>
          <a:p>
            <a:r>
              <a:t>• Furniture performs strongly in select regions</a:t>
            </a:r>
          </a:p>
          <a:p>
            <a:r>
              <a:t>• Low returns indicate good product quality</a:t>
            </a:r>
          </a:p>
          <a:p>
            <a:r>
              <a:t>• South region has improvement potential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E044F9-A07F-9182-04E1-1CAC69221C04}"/>
              </a:ext>
            </a:extLst>
          </p:cNvPr>
          <p:cNvSpPr txBox="1"/>
          <p:nvPr/>
        </p:nvSpPr>
        <p:spPr>
          <a:xfrm>
            <a:off x="257175" y="152400"/>
            <a:ext cx="788670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600" b="1" dirty="0"/>
              <a:t>Business Recommendations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Expand in South Region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Targeted marketing campaigns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Regional promotions and partnerships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Leverage Office Supplies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Bundle with Furniture or Technology to increase order value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Strengthen Technology Sales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Promote in high-performing regions (West &amp; East)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Focus on premium positioning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Monitor Return Percentage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Track return rate (%) instead of only return count</a:t>
            </a:r>
          </a:p>
          <a:p>
            <a:pPr>
              <a:buFont typeface="+mj-lt"/>
              <a:buAutoNum type="arabicPeriod"/>
            </a:pPr>
            <a:r>
              <a:rPr lang="en-GB" b="1" dirty="0"/>
              <a:t>Regional Strategy Optimization</a:t>
            </a:r>
            <a:endParaRPr lang="en-GB" dirty="0"/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Invest more resources in West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dirty="0"/>
              <a:t>Improve logistics and visibility in South</a:t>
            </a:r>
          </a:p>
        </p:txBody>
      </p:sp>
    </p:spTree>
    <p:extLst>
      <p:ext uri="{BB962C8B-B14F-4D97-AF65-F5344CB8AC3E}">
        <p14:creationId xmlns:p14="http://schemas.microsoft.com/office/powerpoint/2010/main" val="284003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AD4A99B-B41F-3F0D-6EE5-985F4D365BE9}"/>
              </a:ext>
            </a:extLst>
          </p:cNvPr>
          <p:cNvSpPr txBox="1"/>
          <p:nvPr/>
        </p:nvSpPr>
        <p:spPr>
          <a:xfrm>
            <a:off x="2028825" y="1666875"/>
            <a:ext cx="4362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dirty="0">
                <a:latin typeface="Arial Black" panose="020B0A04020102020204" pitchFamily="34" charset="0"/>
              </a:rPr>
              <a:t>Thank you</a:t>
            </a:r>
            <a:endParaRPr lang="en-IN" sz="5400" b="1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80259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80</TotalTime>
  <Words>140</Words>
  <Application>Microsoft Office PowerPoint</Application>
  <PresentationFormat>On-screen Show (4:3)</PresentationFormat>
  <Paragraphs>30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 Black</vt:lpstr>
      <vt:lpstr>Century Gothic</vt:lpstr>
      <vt:lpstr>Wingdings 3</vt:lpstr>
      <vt:lpstr>Ion</vt:lpstr>
      <vt:lpstr>Sales &amp; Operations Analysis Dashboard</vt:lpstr>
      <vt:lpstr>Returns Analysis by Sub-Category</vt:lpstr>
      <vt:lpstr>Quantity by Category and Region</vt:lpstr>
      <vt:lpstr>Quantity Share by Category</vt:lpstr>
      <vt:lpstr>Sales Performance by Region</vt:lpstr>
      <vt:lpstr>Key Business Insights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Muhammed Nishad PM</dc:creator>
  <cp:keywords/>
  <dc:description>generated using python-pptx</dc:description>
  <cp:lastModifiedBy>Muhammed Nishad PM</cp:lastModifiedBy>
  <cp:revision>3</cp:revision>
  <dcterms:created xsi:type="dcterms:W3CDTF">2013-01-27T09:14:16Z</dcterms:created>
  <dcterms:modified xsi:type="dcterms:W3CDTF">2026-02-10T11:54:32Z</dcterms:modified>
  <cp:category/>
</cp:coreProperties>
</file>